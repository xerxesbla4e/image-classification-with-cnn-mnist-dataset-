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9" d="100"/>
          <a:sy n="59" d="100"/>
        </p:scale>
        <p:origin x="1428"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774700"/>
            <a:ext cx="7315200" cy="1371600"/>
          </a:xfrm>
          <a:prstGeom prst="rect">
            <a:avLst/>
          </a:prstGeom>
          <a:noFill/>
        </p:spPr>
        <p:txBody>
          <a:bodyPr wrap="none">
            <a:spAutoFit/>
          </a:bodyPr>
          <a:lstStyle/>
          <a:p>
            <a:pPr algn="ctr">
              <a:defRPr sz="4400" b="1">
                <a:solidFill>
                  <a:srgbClr val="1F4E79"/>
                </a:solidFill>
              </a:defRPr>
            </a:pPr>
            <a:r>
              <a:rPr dirty="0"/>
              <a:t>MNIST Image Classification</a:t>
            </a:r>
          </a:p>
        </p:txBody>
      </p:sp>
      <p:sp>
        <p:nvSpPr>
          <p:cNvPr id="3" name="TextBox 2"/>
          <p:cNvSpPr txBox="1"/>
          <p:nvPr/>
        </p:nvSpPr>
        <p:spPr>
          <a:xfrm>
            <a:off x="688305" y="1815405"/>
            <a:ext cx="7541295" cy="1384995"/>
          </a:xfrm>
          <a:prstGeom prst="rect">
            <a:avLst/>
          </a:prstGeom>
          <a:noFill/>
        </p:spPr>
        <p:txBody>
          <a:bodyPr wrap="none">
            <a:spAutoFit/>
          </a:bodyPr>
          <a:lstStyle/>
          <a:p>
            <a:pPr algn="ctr">
              <a:defRPr sz="2800">
                <a:solidFill>
                  <a:srgbClr val="4472C4"/>
                </a:solidFill>
              </a:defRPr>
            </a:pPr>
            <a:r>
              <a:rPr dirty="0"/>
              <a:t>Convolutional Neural Network (CNN) Analysis</a:t>
            </a:r>
            <a:endParaRPr lang="en-US" dirty="0"/>
          </a:p>
          <a:p>
            <a:pPr algn="ctr">
              <a:defRPr sz="2800">
                <a:solidFill>
                  <a:srgbClr val="4472C4"/>
                </a:solidFill>
              </a:defRPr>
            </a:pPr>
            <a:r>
              <a:rPr lang="en-US" dirty="0"/>
              <a:t>Dataset: MNIST Handwritten Digits (</a:t>
            </a:r>
            <a:r>
              <a:rPr lang="en-US" dirty="0" err="1"/>
              <a:t>Keras</a:t>
            </a:r>
            <a:r>
              <a:rPr lang="en-US" dirty="0"/>
              <a:t> Dataset)</a:t>
            </a:r>
          </a:p>
          <a:p>
            <a:pPr algn="ctr">
              <a:defRPr sz="2800">
                <a:solidFill>
                  <a:srgbClr val="4472C4"/>
                </a:solidFill>
              </a:defRPr>
            </a:pPr>
            <a:endParaRPr dirty="0"/>
          </a:p>
        </p:txBody>
      </p:sp>
      <p:sp>
        <p:nvSpPr>
          <p:cNvPr id="4" name="TextBox 3"/>
          <p:cNvSpPr txBox="1"/>
          <p:nvPr/>
        </p:nvSpPr>
        <p:spPr>
          <a:xfrm>
            <a:off x="1340776" y="2863839"/>
            <a:ext cx="5288624" cy="646331"/>
          </a:xfrm>
          <a:prstGeom prst="rect">
            <a:avLst/>
          </a:prstGeom>
          <a:noFill/>
        </p:spPr>
        <p:txBody>
          <a:bodyPr wrap="square">
            <a:spAutoFit/>
          </a:bodyPr>
          <a:lstStyle/>
          <a:p>
            <a:pPr algn="ctr">
              <a:defRPr sz="1800"/>
            </a:pPr>
            <a:r>
              <a:rPr dirty="0"/>
              <a:t>Group </a:t>
            </a:r>
            <a:r>
              <a:rPr lang="en-US" dirty="0"/>
              <a:t>members</a:t>
            </a:r>
          </a:p>
          <a:p>
            <a:pPr algn="ctr">
              <a:defRPr sz="1800"/>
            </a:pPr>
            <a:endParaRPr dirty="0"/>
          </a:p>
        </p:txBody>
      </p:sp>
      <p:graphicFrame>
        <p:nvGraphicFramePr>
          <p:cNvPr id="5" name="Table 8">
            <a:extLst>
              <a:ext uri="{FF2B5EF4-FFF2-40B4-BE49-F238E27FC236}">
                <a16:creationId xmlns:a16="http://schemas.microsoft.com/office/drawing/2014/main" id="{00264195-13F4-4A47-93B0-1D02D4576993}"/>
              </a:ext>
            </a:extLst>
          </p:cNvPr>
          <p:cNvGraphicFramePr>
            <a:graphicFrameLocks noGrp="1"/>
          </p:cNvGraphicFramePr>
          <p:nvPr>
            <p:extLst>
              <p:ext uri="{D42A27DB-BD31-4B8C-83A1-F6EECF244321}">
                <p14:modId xmlns:p14="http://schemas.microsoft.com/office/powerpoint/2010/main" val="1928734875"/>
              </p:ext>
            </p:extLst>
          </p:nvPr>
        </p:nvGraphicFramePr>
        <p:xfrm>
          <a:off x="498021" y="3307897"/>
          <a:ext cx="8147958" cy="2045608"/>
        </p:xfrm>
        <a:graphic>
          <a:graphicData uri="http://schemas.openxmlformats.org/drawingml/2006/table">
            <a:tbl>
              <a:tblPr firstRow="1" bandRow="1">
                <a:tableStyleId>{5C22544A-7EE6-4342-B048-85BDC9FD1C3A}</a:tableStyleId>
              </a:tblPr>
              <a:tblGrid>
                <a:gridCol w="4073979">
                  <a:extLst>
                    <a:ext uri="{9D8B030D-6E8A-4147-A177-3AD203B41FA5}">
                      <a16:colId xmlns:a16="http://schemas.microsoft.com/office/drawing/2014/main" val="3794548668"/>
                    </a:ext>
                  </a:extLst>
                </a:gridCol>
                <a:gridCol w="4073979">
                  <a:extLst>
                    <a:ext uri="{9D8B030D-6E8A-4147-A177-3AD203B41FA5}">
                      <a16:colId xmlns:a16="http://schemas.microsoft.com/office/drawing/2014/main" val="1267203309"/>
                    </a:ext>
                  </a:extLst>
                </a:gridCol>
              </a:tblGrid>
              <a:tr h="511402">
                <a:tc>
                  <a:txBody>
                    <a:bodyPr/>
                    <a:lstStyle/>
                    <a:p>
                      <a:r>
                        <a:rPr lang="en-US" dirty="0"/>
                        <a:t>NAME</a:t>
                      </a:r>
                      <a:endParaRPr lang="en-UG" dirty="0"/>
                    </a:p>
                  </a:txBody>
                  <a:tcPr/>
                </a:tc>
                <a:tc>
                  <a:txBody>
                    <a:bodyPr/>
                    <a:lstStyle/>
                    <a:p>
                      <a:r>
                        <a:rPr lang="en-US" dirty="0"/>
                        <a:t>REG NO</a:t>
                      </a:r>
                      <a:endParaRPr lang="en-UG" dirty="0"/>
                    </a:p>
                  </a:txBody>
                  <a:tcPr/>
                </a:tc>
                <a:extLst>
                  <a:ext uri="{0D108BD9-81ED-4DB2-BD59-A6C34878D82A}">
                    <a16:rowId xmlns:a16="http://schemas.microsoft.com/office/drawing/2014/main" val="47529602"/>
                  </a:ext>
                </a:extLst>
              </a:tr>
              <a:tr h="511402">
                <a:tc>
                  <a:txBody>
                    <a:bodyPr/>
                    <a:lstStyle/>
                    <a:p>
                      <a:r>
                        <a:rPr lang="en-US" dirty="0"/>
                        <a:t>ARINEITWE THOMAS</a:t>
                      </a:r>
                      <a:endParaRPr lang="en-UG" dirty="0"/>
                    </a:p>
                  </a:txBody>
                  <a:tcPr/>
                </a:tc>
                <a:tc>
                  <a:txBody>
                    <a:bodyPr/>
                    <a:lstStyle/>
                    <a:p>
                      <a:r>
                        <a:rPr lang="en-US" dirty="0"/>
                        <a:t>2024-MI32-24196 </a:t>
                      </a:r>
                      <a:endParaRPr lang="en-UG" dirty="0"/>
                    </a:p>
                  </a:txBody>
                  <a:tcPr/>
                </a:tc>
                <a:extLst>
                  <a:ext uri="{0D108BD9-81ED-4DB2-BD59-A6C34878D82A}">
                    <a16:rowId xmlns:a16="http://schemas.microsoft.com/office/drawing/2014/main" val="1109962239"/>
                  </a:ext>
                </a:extLst>
              </a:tr>
              <a:tr h="511402">
                <a:tc>
                  <a:txBody>
                    <a:bodyPr/>
                    <a:lstStyle/>
                    <a:p>
                      <a:r>
                        <a:rPr lang="en-US" dirty="0"/>
                        <a:t>MUGASHA BLAISE</a:t>
                      </a:r>
                      <a:endParaRPr lang="en-UG" dirty="0"/>
                    </a:p>
                  </a:txBody>
                  <a:tcPr/>
                </a:tc>
                <a:tc>
                  <a:txBody>
                    <a:bodyPr/>
                    <a:lstStyle/>
                    <a:p>
                      <a:r>
                        <a:rPr lang="en-US" dirty="0"/>
                        <a:t>2024-M132-23976</a:t>
                      </a:r>
                      <a:endParaRPr lang="en-UG" dirty="0"/>
                    </a:p>
                  </a:txBody>
                  <a:tcPr/>
                </a:tc>
                <a:extLst>
                  <a:ext uri="{0D108BD9-81ED-4DB2-BD59-A6C34878D82A}">
                    <a16:rowId xmlns:a16="http://schemas.microsoft.com/office/drawing/2014/main" val="1183025201"/>
                  </a:ext>
                </a:extLst>
              </a:tr>
              <a:tr h="511402">
                <a:tc>
                  <a:txBody>
                    <a:bodyPr/>
                    <a:lstStyle/>
                    <a:p>
                      <a:r>
                        <a:rPr lang="en-US" dirty="0"/>
                        <a:t>NAMUSOKE OLIVIA</a:t>
                      </a:r>
                      <a:endParaRPr lang="en-UG" dirty="0"/>
                    </a:p>
                  </a:txBody>
                  <a:tcPr/>
                </a:tc>
                <a:tc>
                  <a:txBody>
                    <a:bodyPr/>
                    <a:lstStyle/>
                    <a:p>
                      <a:endParaRPr lang="en-UG" dirty="0"/>
                    </a:p>
                  </a:txBody>
                  <a:tcPr/>
                </a:tc>
                <a:extLst>
                  <a:ext uri="{0D108BD9-81ED-4DB2-BD59-A6C34878D82A}">
                    <a16:rowId xmlns:a16="http://schemas.microsoft.com/office/drawing/2014/main" val="1901407426"/>
                  </a:ext>
                </a:extLst>
              </a:tr>
            </a:tbl>
          </a:graphicData>
        </a:graphic>
      </p:graphicFrame>
      <p:graphicFrame>
        <p:nvGraphicFramePr>
          <p:cNvPr id="6" name="Table 9">
            <a:extLst>
              <a:ext uri="{FF2B5EF4-FFF2-40B4-BE49-F238E27FC236}">
                <a16:creationId xmlns:a16="http://schemas.microsoft.com/office/drawing/2014/main" id="{F824C1F9-9C02-45C6-AAA9-656B0B3845F4}"/>
              </a:ext>
            </a:extLst>
          </p:cNvPr>
          <p:cNvGraphicFramePr>
            <a:graphicFrameLocks noGrp="1"/>
          </p:cNvGraphicFramePr>
          <p:nvPr>
            <p:extLst>
              <p:ext uri="{D42A27DB-BD31-4B8C-83A1-F6EECF244321}">
                <p14:modId xmlns:p14="http://schemas.microsoft.com/office/powerpoint/2010/main" val="1570949979"/>
              </p:ext>
            </p:extLst>
          </p:nvPr>
        </p:nvGraphicFramePr>
        <p:xfrm>
          <a:off x="2623457" y="6071326"/>
          <a:ext cx="6096000" cy="370840"/>
        </p:xfrm>
        <a:graphic>
          <a:graphicData uri="http://schemas.openxmlformats.org/drawingml/2006/table">
            <a:tbl>
              <a:tblPr firstRow="1" bandRow="1">
                <a:tableStyleId>{5C22544A-7EE6-4342-B048-85BDC9FD1C3A}</a:tableStyleId>
              </a:tblPr>
              <a:tblGrid>
                <a:gridCol w="2383972">
                  <a:extLst>
                    <a:ext uri="{9D8B030D-6E8A-4147-A177-3AD203B41FA5}">
                      <a16:colId xmlns:a16="http://schemas.microsoft.com/office/drawing/2014/main" val="295251646"/>
                    </a:ext>
                  </a:extLst>
                </a:gridCol>
                <a:gridCol w="3712028">
                  <a:extLst>
                    <a:ext uri="{9D8B030D-6E8A-4147-A177-3AD203B41FA5}">
                      <a16:colId xmlns:a16="http://schemas.microsoft.com/office/drawing/2014/main" val="3470420330"/>
                    </a:ext>
                  </a:extLst>
                </a:gridCol>
              </a:tblGrid>
              <a:tr h="370840">
                <a:tc>
                  <a:txBody>
                    <a:bodyPr/>
                    <a:lstStyle/>
                    <a:p>
                      <a:r>
                        <a:rPr lang="en-US" dirty="0"/>
                        <a:t>INSTRUCTOR</a:t>
                      </a:r>
                      <a:endParaRPr lang="en-UG" dirty="0"/>
                    </a:p>
                  </a:txBody>
                  <a:tcPr/>
                </a:tc>
                <a:tc>
                  <a:txBody>
                    <a:bodyPr/>
                    <a:lstStyle/>
                    <a:p>
                      <a:r>
                        <a:rPr lang="en-US" sz="1800" b="0" i="0" kern="1200" dirty="0">
                          <a:solidFill>
                            <a:schemeClr val="lt1"/>
                          </a:solidFill>
                          <a:effectLst/>
                          <a:latin typeface="+mn-lt"/>
                          <a:ea typeface="+mn-ea"/>
                          <a:cs typeface="+mn-cs"/>
                        </a:rPr>
                        <a:t>DR. HARRIET SIBITENDA</a:t>
                      </a:r>
                      <a:endParaRPr lang="en-UG" dirty="0"/>
                    </a:p>
                  </a:txBody>
                  <a:tcPr/>
                </a:tc>
                <a:extLst>
                  <a:ext uri="{0D108BD9-81ED-4DB2-BD59-A6C34878D82A}">
                    <a16:rowId xmlns:a16="http://schemas.microsoft.com/office/drawing/2014/main" val="2169979300"/>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640080"/>
          </a:xfrm>
          <a:prstGeom prst="rect">
            <a:avLst/>
          </a:prstGeom>
          <a:noFill/>
        </p:spPr>
        <p:txBody>
          <a:bodyPr wrap="none">
            <a:spAutoFit/>
          </a:bodyPr>
          <a:lstStyle/>
          <a:p>
            <a:pPr>
              <a:defRPr sz="3200" b="1">
                <a:solidFill>
                  <a:srgbClr val="1F4E79"/>
                </a:solidFill>
              </a:defRPr>
            </a:pPr>
            <a:r>
              <a:t>MNIST Dataset Overview</a:t>
            </a:r>
          </a:p>
        </p:txBody>
      </p:sp>
      <p:sp>
        <p:nvSpPr>
          <p:cNvPr id="3" name="TextBox 2"/>
          <p:cNvSpPr txBox="1"/>
          <p:nvPr/>
        </p:nvSpPr>
        <p:spPr>
          <a:xfrm>
            <a:off x="827314" y="912223"/>
            <a:ext cx="7315200" cy="5057795"/>
          </a:xfrm>
          <a:prstGeom prst="rect">
            <a:avLst/>
          </a:prstGeom>
          <a:noFill/>
        </p:spPr>
        <p:txBody>
          <a:bodyPr wrap="square">
            <a:spAutoFit/>
          </a:bodyPr>
          <a:lstStyle/>
          <a:p>
            <a:pPr>
              <a:spcBef>
                <a:spcPts val="800"/>
              </a:spcBef>
              <a:defRPr sz="1800" b="1">
                <a:solidFill>
                  <a:srgbClr val="4472C4"/>
                </a:solidFill>
              </a:defRPr>
            </a:pPr>
            <a:r>
              <a:rPr sz="2000" dirty="0"/>
              <a:t>What is MNIST?</a:t>
            </a:r>
          </a:p>
          <a:p>
            <a:pPr lvl="1">
              <a:spcAft>
                <a:spcPts val="600"/>
              </a:spcAft>
              <a:defRPr sz="1400"/>
            </a:pPr>
            <a:r>
              <a:rPr sz="1600" dirty="0"/>
              <a:t>Modified National Institute of Standards and Technology dataset</a:t>
            </a:r>
            <a:r>
              <a:rPr lang="en-US" sz="1600" dirty="0"/>
              <a:t>, is a classic benchmark dataset in machine learning and computer vision.</a:t>
            </a:r>
            <a:endParaRPr sz="1600" dirty="0"/>
          </a:p>
          <a:p>
            <a:pPr>
              <a:spcBef>
                <a:spcPts val="800"/>
              </a:spcBef>
              <a:defRPr sz="1800" b="1">
                <a:solidFill>
                  <a:srgbClr val="4472C4"/>
                </a:solidFill>
              </a:defRPr>
            </a:pPr>
            <a:r>
              <a:rPr sz="2000" dirty="0"/>
              <a:t>Dataset Size</a:t>
            </a:r>
          </a:p>
          <a:p>
            <a:pPr lvl="1">
              <a:spcAft>
                <a:spcPts val="600"/>
              </a:spcAft>
              <a:defRPr sz="1400"/>
            </a:pPr>
            <a:r>
              <a:rPr sz="1600" dirty="0"/>
              <a:t>• 60,000 training images</a:t>
            </a:r>
            <a:br>
              <a:rPr sz="1600" dirty="0"/>
            </a:br>
            <a:r>
              <a:rPr sz="1600" dirty="0"/>
              <a:t>• 10,000 test images</a:t>
            </a:r>
          </a:p>
          <a:p>
            <a:pPr>
              <a:spcBef>
                <a:spcPts val="800"/>
              </a:spcBef>
              <a:defRPr sz="1800" b="1">
                <a:solidFill>
                  <a:srgbClr val="4472C4"/>
                </a:solidFill>
              </a:defRPr>
            </a:pPr>
            <a:r>
              <a:rPr sz="2000" dirty="0"/>
              <a:t>Image Characteristics</a:t>
            </a:r>
          </a:p>
          <a:p>
            <a:pPr lvl="1">
              <a:spcAft>
                <a:spcPts val="600"/>
              </a:spcAft>
              <a:defRPr sz="1400"/>
            </a:pPr>
            <a:r>
              <a:rPr sz="1600" dirty="0"/>
              <a:t>• 28×28 pixel grayscale images</a:t>
            </a:r>
            <a:br>
              <a:rPr sz="1600" dirty="0"/>
            </a:br>
            <a:r>
              <a:rPr sz="1600" dirty="0"/>
              <a:t>• Handwritten digits (0-9)</a:t>
            </a:r>
            <a:br>
              <a:rPr sz="1600" dirty="0"/>
            </a:br>
            <a:r>
              <a:rPr sz="1600" dirty="0"/>
              <a:t>• Pixel values: 0-255</a:t>
            </a:r>
          </a:p>
          <a:p>
            <a:pPr>
              <a:spcBef>
                <a:spcPts val="800"/>
              </a:spcBef>
              <a:defRPr sz="1800" b="1">
                <a:solidFill>
                  <a:srgbClr val="4472C4"/>
                </a:solidFill>
              </a:defRPr>
            </a:pPr>
            <a:r>
              <a:rPr sz="2000" dirty="0"/>
              <a:t>Classes</a:t>
            </a:r>
          </a:p>
          <a:p>
            <a:pPr lvl="1">
              <a:spcAft>
                <a:spcPts val="600"/>
              </a:spcAft>
              <a:defRPr sz="1400"/>
            </a:pPr>
            <a:r>
              <a:rPr sz="1600" dirty="0"/>
              <a:t>10 classes (digits 0 through 9)</a:t>
            </a:r>
          </a:p>
          <a:p>
            <a:pPr>
              <a:spcBef>
                <a:spcPts val="800"/>
              </a:spcBef>
              <a:defRPr sz="1800" b="1">
                <a:solidFill>
                  <a:srgbClr val="4472C4"/>
                </a:solidFill>
              </a:defRPr>
            </a:pPr>
            <a:r>
              <a:rPr sz="2000" dirty="0"/>
              <a:t>Why MNIST?</a:t>
            </a:r>
          </a:p>
          <a:p>
            <a:pPr lvl="1">
              <a:spcAft>
                <a:spcPts val="600"/>
              </a:spcAft>
              <a:defRPr sz="1400"/>
            </a:pPr>
            <a:r>
              <a:rPr sz="1600" dirty="0"/>
              <a:t>• Simple yet effective for learning</a:t>
            </a:r>
            <a:br>
              <a:rPr sz="1600" dirty="0"/>
            </a:br>
            <a:r>
              <a:rPr sz="1600" dirty="0"/>
              <a:t>• Standard benchmark dataset</a:t>
            </a:r>
            <a:br>
              <a:rPr sz="1600" dirty="0"/>
            </a:br>
            <a:r>
              <a:rPr sz="1600" dirty="0"/>
              <a:t>• Well-balanced and preprocessed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640080"/>
          </a:xfrm>
          <a:prstGeom prst="rect">
            <a:avLst/>
          </a:prstGeom>
          <a:noFill/>
        </p:spPr>
        <p:txBody>
          <a:bodyPr wrap="none">
            <a:spAutoFit/>
          </a:bodyPr>
          <a:lstStyle/>
          <a:p>
            <a:pPr>
              <a:defRPr sz="2800" b="1">
                <a:solidFill>
                  <a:srgbClr val="1F4E79"/>
                </a:solidFill>
              </a:defRPr>
            </a:pPr>
            <a:r>
              <a:t>Task 1: Load and Explore MNIST Dataset</a:t>
            </a:r>
          </a:p>
        </p:txBody>
      </p:sp>
      <p:sp>
        <p:nvSpPr>
          <p:cNvPr id="3" name="TextBox 2"/>
          <p:cNvSpPr txBox="1"/>
          <p:nvPr/>
        </p:nvSpPr>
        <p:spPr>
          <a:xfrm>
            <a:off x="914400" y="1097280"/>
            <a:ext cx="7315200" cy="2286000"/>
          </a:xfrm>
          <a:prstGeom prst="rect">
            <a:avLst/>
          </a:prstGeom>
          <a:noFill/>
        </p:spPr>
        <p:txBody>
          <a:bodyPr wrap="square">
            <a:spAutoFit/>
          </a:bodyPr>
          <a:lstStyle/>
          <a:p>
            <a:pPr>
              <a:defRPr sz="1600" b="1"/>
            </a:pPr>
            <a:r>
              <a:t>Dataset Loading</a:t>
            </a:r>
          </a:p>
          <a:p>
            <a:pPr lvl="1">
              <a:defRPr sz="1200"/>
            </a:pPr>
            <a:r>
              <a:t>• Loaded using tf.keras.datasets.mnist.load_data()</a:t>
            </a:r>
          </a:p>
          <a:p>
            <a:pPr lvl="1">
              <a:defRPr sz="1200"/>
            </a:pPr>
            <a:r>
              <a:t>• Returns: (x_train, y_train), (x_test, y_test)</a:t>
            </a:r>
          </a:p>
          <a:p>
            <a:pPr>
              <a:spcBef>
                <a:spcPts val="800"/>
              </a:spcBef>
              <a:defRPr sz="1600" b="1"/>
            </a:pPr>
            <a:r>
              <a:t>Data Exploration</a:t>
            </a:r>
          </a:p>
          <a:p>
            <a:pPr lvl="1">
              <a:defRPr sz="1200"/>
            </a:pPr>
            <a:r>
              <a:t>• Training: 60,000 images (28×28 pixels)</a:t>
            </a:r>
          </a:p>
          <a:p>
            <a:pPr lvl="1">
              <a:defRPr sz="1200"/>
            </a:pPr>
            <a:r>
              <a:t>• Testing: 10,000 images (28×28 pixels)</a:t>
            </a:r>
          </a:p>
        </p:txBody>
      </p:sp>
      <p:pic>
        <p:nvPicPr>
          <p:cNvPr id="4" name="Picture 3" descr="sample_images.png"/>
          <p:cNvPicPr>
            <a:picLocks noChangeAspect="1"/>
          </p:cNvPicPr>
          <p:nvPr/>
        </p:nvPicPr>
        <p:blipFill>
          <a:blip r:embed="rId2"/>
          <a:stretch>
            <a:fillRect/>
          </a:stretch>
        </p:blipFill>
        <p:spPr>
          <a:xfrm>
            <a:off x="391160" y="3111500"/>
            <a:ext cx="4434840" cy="2463800"/>
          </a:xfrm>
          <a:prstGeom prst="rect">
            <a:avLst/>
          </a:prstGeom>
        </p:spPr>
      </p:pic>
      <p:pic>
        <p:nvPicPr>
          <p:cNvPr id="5" name="Picture 4" descr="pixel_distribution.png"/>
          <p:cNvPicPr>
            <a:picLocks noChangeAspect="1"/>
          </p:cNvPicPr>
          <p:nvPr/>
        </p:nvPicPr>
        <p:blipFill>
          <a:blip r:embed="rId3"/>
          <a:stretch>
            <a:fillRect/>
          </a:stretch>
        </p:blipFill>
        <p:spPr>
          <a:xfrm>
            <a:off x="4826000" y="3111500"/>
            <a:ext cx="3657600" cy="228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640080"/>
          </a:xfrm>
          <a:prstGeom prst="rect">
            <a:avLst/>
          </a:prstGeom>
          <a:noFill/>
        </p:spPr>
        <p:txBody>
          <a:bodyPr wrap="none">
            <a:spAutoFit/>
          </a:bodyPr>
          <a:lstStyle/>
          <a:p>
            <a:pPr>
              <a:defRPr sz="2800" b="1">
                <a:solidFill>
                  <a:srgbClr val="1F4E79"/>
                </a:solidFill>
              </a:defRPr>
            </a:pPr>
            <a:r>
              <a:rPr dirty="0"/>
              <a:t>Task 2: Build CNN Architecture</a:t>
            </a:r>
          </a:p>
        </p:txBody>
      </p:sp>
      <p:sp>
        <p:nvSpPr>
          <p:cNvPr id="3" name="TextBox 2"/>
          <p:cNvSpPr txBox="1"/>
          <p:nvPr/>
        </p:nvSpPr>
        <p:spPr>
          <a:xfrm>
            <a:off x="381000" y="974982"/>
            <a:ext cx="3835400" cy="1549142"/>
          </a:xfrm>
          <a:prstGeom prst="rect">
            <a:avLst/>
          </a:prstGeom>
          <a:noFill/>
          <a:ln>
            <a:solidFill>
              <a:schemeClr val="accent6">
                <a:lumMod val="75000"/>
              </a:schemeClr>
            </a:solidFill>
          </a:ln>
        </p:spPr>
        <p:txBody>
          <a:bodyPr wrap="square">
            <a:spAutoFit/>
          </a:bodyPr>
          <a:lstStyle/>
          <a:p>
            <a:pPr>
              <a:defRPr sz="1800" b="1"/>
            </a:pPr>
            <a:r>
              <a:rPr dirty="0"/>
              <a:t>CNN Architecture Components:</a:t>
            </a:r>
          </a:p>
          <a:p>
            <a:pPr lvl="1">
              <a:spcAft>
                <a:spcPts val="400"/>
              </a:spcAft>
              <a:defRPr sz="1400"/>
            </a:pPr>
            <a:r>
              <a:rPr dirty="0"/>
              <a:t>1. Conv2D Layer 1: 32 filters, 3×3 kernel, </a:t>
            </a:r>
            <a:r>
              <a:rPr dirty="0" err="1"/>
              <a:t>ReLU</a:t>
            </a:r>
            <a:r>
              <a:rPr dirty="0"/>
              <a:t> activation</a:t>
            </a:r>
          </a:p>
          <a:p>
            <a:pPr lvl="1">
              <a:spcAft>
                <a:spcPts val="400"/>
              </a:spcAft>
              <a:defRPr sz="1400"/>
            </a:pPr>
            <a:r>
              <a:rPr dirty="0"/>
              <a:t>2. MaxPooling2D: 2×2 pooling</a:t>
            </a:r>
          </a:p>
          <a:p>
            <a:pPr lvl="1">
              <a:spcAft>
                <a:spcPts val="400"/>
              </a:spcAft>
              <a:defRPr sz="1400"/>
            </a:pPr>
            <a:r>
              <a:rPr dirty="0"/>
              <a:t>3. Conv2D Layer 2: 64 filters, 3×3 kernel, </a:t>
            </a:r>
            <a:r>
              <a:rPr dirty="0" err="1"/>
              <a:t>ReLU</a:t>
            </a:r>
            <a:r>
              <a:rPr dirty="0"/>
              <a:t> activation</a:t>
            </a:r>
          </a:p>
        </p:txBody>
      </p:sp>
      <p:pic>
        <p:nvPicPr>
          <p:cNvPr id="7" name="Picture 6">
            <a:extLst>
              <a:ext uri="{FF2B5EF4-FFF2-40B4-BE49-F238E27FC236}">
                <a16:creationId xmlns:a16="http://schemas.microsoft.com/office/drawing/2014/main" id="{8C47548B-870F-4B5F-9222-29AF2A1B16A6}"/>
              </a:ext>
            </a:extLst>
          </p:cNvPr>
          <p:cNvPicPr>
            <a:picLocks noChangeAspect="1"/>
          </p:cNvPicPr>
          <p:nvPr/>
        </p:nvPicPr>
        <p:blipFill>
          <a:blip r:embed="rId2"/>
          <a:stretch>
            <a:fillRect/>
          </a:stretch>
        </p:blipFill>
        <p:spPr>
          <a:xfrm>
            <a:off x="618637" y="2584706"/>
            <a:ext cx="7458563" cy="4156066"/>
          </a:xfrm>
          <a:prstGeom prst="rect">
            <a:avLst/>
          </a:prstGeom>
        </p:spPr>
      </p:pic>
      <p:sp>
        <p:nvSpPr>
          <p:cNvPr id="8" name="TextBox 7">
            <a:extLst>
              <a:ext uri="{FF2B5EF4-FFF2-40B4-BE49-F238E27FC236}">
                <a16:creationId xmlns:a16="http://schemas.microsoft.com/office/drawing/2014/main" id="{094B3F44-3E7A-45F3-BE79-8B92B4495148}"/>
              </a:ext>
            </a:extLst>
          </p:cNvPr>
          <p:cNvSpPr txBox="1"/>
          <p:nvPr/>
        </p:nvSpPr>
        <p:spPr>
          <a:xfrm>
            <a:off x="4356100" y="927100"/>
            <a:ext cx="4051300" cy="1323439"/>
          </a:xfrm>
          <a:prstGeom prst="rect">
            <a:avLst/>
          </a:prstGeom>
          <a:noFill/>
          <a:ln>
            <a:solidFill>
              <a:schemeClr val="accent6">
                <a:lumMod val="75000"/>
              </a:schemeClr>
            </a:solidFill>
          </a:ln>
        </p:spPr>
        <p:txBody>
          <a:bodyPr wrap="square">
            <a:spAutoFit/>
          </a:bodyPr>
          <a:lstStyle/>
          <a:p>
            <a:pPr lvl="1">
              <a:spcAft>
                <a:spcPts val="400"/>
              </a:spcAft>
              <a:defRPr sz="1400"/>
            </a:pPr>
            <a:r>
              <a:rPr dirty="0"/>
              <a:t>4. MaxPooling2D: 2×2 pooling</a:t>
            </a:r>
          </a:p>
          <a:p>
            <a:pPr lvl="1">
              <a:spcAft>
                <a:spcPts val="400"/>
              </a:spcAft>
              <a:defRPr sz="1400"/>
            </a:pPr>
            <a:r>
              <a:rPr dirty="0"/>
              <a:t>5. Flatten: Convert 2D to 1D</a:t>
            </a:r>
          </a:p>
          <a:p>
            <a:pPr lvl="1">
              <a:spcAft>
                <a:spcPts val="400"/>
              </a:spcAft>
              <a:defRPr sz="1400"/>
            </a:pPr>
            <a:r>
              <a:rPr dirty="0"/>
              <a:t>6. Dense Layer: 128 neurons, </a:t>
            </a:r>
            <a:r>
              <a:rPr dirty="0" err="1"/>
              <a:t>ReLU</a:t>
            </a:r>
            <a:r>
              <a:rPr dirty="0"/>
              <a:t> activation</a:t>
            </a:r>
          </a:p>
          <a:p>
            <a:pPr lvl="1">
              <a:spcAft>
                <a:spcPts val="400"/>
              </a:spcAft>
              <a:defRPr sz="1400"/>
            </a:pPr>
            <a:r>
              <a:rPr dirty="0"/>
              <a:t>7. Output Layer: 10 neurons, </a:t>
            </a:r>
            <a:r>
              <a:rPr dirty="0" err="1"/>
              <a:t>Softmax</a:t>
            </a:r>
            <a:r>
              <a:rPr dirty="0"/>
              <a:t> activation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640080"/>
          </a:xfrm>
          <a:prstGeom prst="rect">
            <a:avLst/>
          </a:prstGeom>
          <a:noFill/>
        </p:spPr>
        <p:txBody>
          <a:bodyPr wrap="none">
            <a:spAutoFit/>
          </a:bodyPr>
          <a:lstStyle/>
          <a:p>
            <a:pPr>
              <a:defRPr sz="2800" b="1">
                <a:solidFill>
                  <a:srgbClr val="1F4E79"/>
                </a:solidFill>
              </a:defRPr>
            </a:pPr>
            <a:r>
              <a:t>Task 3: Train Model (10 Epochs)</a:t>
            </a:r>
          </a:p>
        </p:txBody>
      </p:sp>
      <p:sp>
        <p:nvSpPr>
          <p:cNvPr id="3" name="TextBox 2"/>
          <p:cNvSpPr txBox="1"/>
          <p:nvPr/>
        </p:nvSpPr>
        <p:spPr>
          <a:xfrm>
            <a:off x="1016000" y="727373"/>
            <a:ext cx="4533900" cy="1200329"/>
          </a:xfrm>
          <a:prstGeom prst="rect">
            <a:avLst/>
          </a:prstGeom>
          <a:noFill/>
        </p:spPr>
        <p:txBody>
          <a:bodyPr wrap="square">
            <a:spAutoFit/>
          </a:bodyPr>
          <a:lstStyle/>
          <a:p>
            <a:pPr>
              <a:defRPr sz="1600" b="1"/>
            </a:pPr>
            <a:r>
              <a:rPr lang="en-US" dirty="0"/>
              <a:t>Training Configuration:</a:t>
            </a:r>
          </a:p>
          <a:p>
            <a:pPr lvl="1">
              <a:defRPr sz="1400"/>
            </a:pPr>
            <a:r>
              <a:rPr lang="en-US" dirty="0"/>
              <a:t>• Epochs: 10</a:t>
            </a:r>
          </a:p>
          <a:p>
            <a:pPr lvl="1">
              <a:defRPr sz="1400"/>
            </a:pPr>
            <a:r>
              <a:rPr lang="en-US" dirty="0"/>
              <a:t>• Batch Size: 128</a:t>
            </a:r>
          </a:p>
          <a:p>
            <a:pPr lvl="1">
              <a:defRPr sz="1400"/>
            </a:pPr>
            <a:r>
              <a:rPr lang="en-US" dirty="0"/>
              <a:t>• Optimizer: Adam</a:t>
            </a:r>
          </a:p>
          <a:p>
            <a:pPr lvl="1">
              <a:defRPr sz="1400"/>
            </a:pPr>
            <a:r>
              <a:rPr lang="en-US" dirty="0"/>
              <a:t>• Loss: Categorical </a:t>
            </a:r>
            <a:r>
              <a:rPr lang="en-US" dirty="0" err="1"/>
              <a:t>Crossentropy</a:t>
            </a:r>
            <a:endParaRPr lang="en-US" dirty="0"/>
          </a:p>
        </p:txBody>
      </p:sp>
      <p:sp>
        <p:nvSpPr>
          <p:cNvPr id="4" name="TextBox 3"/>
          <p:cNvSpPr txBox="1"/>
          <p:nvPr/>
        </p:nvSpPr>
        <p:spPr>
          <a:xfrm>
            <a:off x="787400" y="5598794"/>
            <a:ext cx="3263900" cy="984885"/>
          </a:xfrm>
          <a:prstGeom prst="rect">
            <a:avLst/>
          </a:prstGeom>
          <a:noFill/>
        </p:spPr>
        <p:txBody>
          <a:bodyPr wrap="square">
            <a:spAutoFit/>
          </a:bodyPr>
          <a:lstStyle/>
          <a:p>
            <a:pPr>
              <a:defRPr sz="1600" b="1"/>
            </a:pPr>
            <a:r>
              <a:rPr dirty="0"/>
              <a:t>Training Results:</a:t>
            </a:r>
          </a:p>
          <a:p>
            <a:pPr lvl="1">
              <a:defRPr sz="1400"/>
            </a:pPr>
            <a:r>
              <a:rPr dirty="0"/>
              <a:t>• Final Training Accuracy: 99.69%</a:t>
            </a:r>
          </a:p>
          <a:p>
            <a:pPr lvl="1">
              <a:defRPr sz="1400"/>
            </a:pPr>
            <a:r>
              <a:rPr dirty="0"/>
              <a:t>• Final Validation Accuracy: 99.16%</a:t>
            </a:r>
          </a:p>
          <a:p>
            <a:pPr lvl="1">
              <a:defRPr sz="1400"/>
            </a:pPr>
            <a:r>
              <a:rPr dirty="0"/>
              <a:t>• Final Validation Loss: 0.0271</a:t>
            </a:r>
          </a:p>
        </p:txBody>
      </p:sp>
      <p:sp>
        <p:nvSpPr>
          <p:cNvPr id="7" name="TextBox 6">
            <a:extLst>
              <a:ext uri="{FF2B5EF4-FFF2-40B4-BE49-F238E27FC236}">
                <a16:creationId xmlns:a16="http://schemas.microsoft.com/office/drawing/2014/main" id="{8E0D40DF-DD61-4D68-B926-1CDBE30A332F}"/>
              </a:ext>
            </a:extLst>
          </p:cNvPr>
          <p:cNvSpPr txBox="1"/>
          <p:nvPr/>
        </p:nvSpPr>
        <p:spPr>
          <a:xfrm>
            <a:off x="5880100" y="5873114"/>
            <a:ext cx="3263900" cy="830997"/>
          </a:xfrm>
          <a:prstGeom prst="rect">
            <a:avLst/>
          </a:prstGeom>
          <a:noFill/>
        </p:spPr>
        <p:txBody>
          <a:bodyPr wrap="square">
            <a:spAutoFit/>
          </a:bodyPr>
          <a:lstStyle/>
          <a:p>
            <a:pPr>
              <a:defRPr sz="1600" b="1"/>
            </a:pPr>
            <a:r>
              <a:rPr lang="en-US" dirty="0"/>
              <a:t>Interpretation: Accuracy increases; mild overfitting expected</a:t>
            </a:r>
          </a:p>
          <a:p>
            <a:pPr>
              <a:defRPr sz="1600" b="1"/>
            </a:pPr>
            <a:endParaRPr lang="en-US" dirty="0"/>
          </a:p>
        </p:txBody>
      </p:sp>
      <p:grpSp>
        <p:nvGrpSpPr>
          <p:cNvPr id="11" name="Group 10">
            <a:extLst>
              <a:ext uri="{FF2B5EF4-FFF2-40B4-BE49-F238E27FC236}">
                <a16:creationId xmlns:a16="http://schemas.microsoft.com/office/drawing/2014/main" id="{3099D8B3-A38C-4C23-8359-DFBBCDE65CBD}"/>
              </a:ext>
            </a:extLst>
          </p:cNvPr>
          <p:cNvGrpSpPr/>
          <p:nvPr/>
        </p:nvGrpSpPr>
        <p:grpSpPr>
          <a:xfrm>
            <a:off x="283029" y="2610796"/>
            <a:ext cx="8453995" cy="2319503"/>
            <a:chOff x="283029" y="2189126"/>
            <a:chExt cx="8453995" cy="2319503"/>
          </a:xfrm>
        </p:grpSpPr>
        <p:pic>
          <p:nvPicPr>
            <p:cNvPr id="8" name="Picture 7">
              <a:extLst>
                <a:ext uri="{FF2B5EF4-FFF2-40B4-BE49-F238E27FC236}">
                  <a16:creationId xmlns:a16="http://schemas.microsoft.com/office/drawing/2014/main" id="{DF5BA423-6F6E-4790-8677-C30C9CFBBBC8}"/>
                </a:ext>
              </a:extLst>
            </p:cNvPr>
            <p:cNvPicPr>
              <a:picLocks noChangeAspect="1"/>
            </p:cNvPicPr>
            <p:nvPr/>
          </p:nvPicPr>
          <p:blipFill>
            <a:blip r:embed="rId2"/>
            <a:stretch>
              <a:fillRect/>
            </a:stretch>
          </p:blipFill>
          <p:spPr>
            <a:xfrm>
              <a:off x="283029" y="2189126"/>
              <a:ext cx="4288972" cy="2319503"/>
            </a:xfrm>
            <a:prstGeom prst="rect">
              <a:avLst/>
            </a:prstGeom>
          </p:spPr>
        </p:pic>
        <p:pic>
          <p:nvPicPr>
            <p:cNvPr id="10" name="Picture 9">
              <a:extLst>
                <a:ext uri="{FF2B5EF4-FFF2-40B4-BE49-F238E27FC236}">
                  <a16:creationId xmlns:a16="http://schemas.microsoft.com/office/drawing/2014/main" id="{44F31B3E-D8A9-4924-86AE-EF6ABB5FF43F}"/>
                </a:ext>
              </a:extLst>
            </p:cNvPr>
            <p:cNvPicPr>
              <a:picLocks noChangeAspect="1"/>
            </p:cNvPicPr>
            <p:nvPr/>
          </p:nvPicPr>
          <p:blipFill>
            <a:blip r:embed="rId3"/>
            <a:stretch>
              <a:fillRect/>
            </a:stretch>
          </p:blipFill>
          <p:spPr>
            <a:xfrm>
              <a:off x="4443130" y="2189127"/>
              <a:ext cx="4293894" cy="2219588"/>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640080"/>
          </a:xfrm>
          <a:prstGeom prst="rect">
            <a:avLst/>
          </a:prstGeom>
          <a:noFill/>
        </p:spPr>
        <p:txBody>
          <a:bodyPr wrap="none">
            <a:spAutoFit/>
          </a:bodyPr>
          <a:lstStyle/>
          <a:p>
            <a:pPr>
              <a:defRPr sz="2800" b="1">
                <a:solidFill>
                  <a:srgbClr val="1F4E79"/>
                </a:solidFill>
              </a:defRPr>
            </a:pPr>
            <a:r>
              <a:t>Task 4: Evaluate on Test Data</a:t>
            </a:r>
          </a:p>
        </p:txBody>
      </p:sp>
      <p:sp>
        <p:nvSpPr>
          <p:cNvPr id="3" name="TextBox 2"/>
          <p:cNvSpPr txBox="1"/>
          <p:nvPr/>
        </p:nvSpPr>
        <p:spPr>
          <a:xfrm>
            <a:off x="266700" y="1064955"/>
            <a:ext cx="3162300" cy="1846659"/>
          </a:xfrm>
          <a:prstGeom prst="rect">
            <a:avLst/>
          </a:prstGeom>
          <a:noFill/>
        </p:spPr>
        <p:txBody>
          <a:bodyPr wrap="square">
            <a:spAutoFit/>
          </a:bodyPr>
          <a:lstStyle/>
          <a:p>
            <a:pPr>
              <a:defRPr sz="1800" b="1"/>
            </a:pPr>
            <a:r>
              <a:rPr dirty="0"/>
              <a:t>Test Set Performance:</a:t>
            </a:r>
          </a:p>
          <a:p>
            <a:pPr lvl="1">
              <a:defRPr sz="1600" b="1"/>
            </a:pPr>
            <a:r>
              <a:rPr dirty="0"/>
              <a:t>Test Accuracy: 99.16%</a:t>
            </a:r>
          </a:p>
          <a:p>
            <a:pPr lvl="1">
              <a:defRPr sz="1600" b="1"/>
            </a:pPr>
            <a:r>
              <a:rPr dirty="0"/>
              <a:t>Test Loss: 0.0271</a:t>
            </a:r>
            <a:endParaRPr lang="en-US" dirty="0"/>
          </a:p>
          <a:p>
            <a:pPr lvl="1">
              <a:defRPr sz="1600" b="1"/>
            </a:pPr>
            <a:endParaRPr lang="en-US" dirty="0"/>
          </a:p>
          <a:p>
            <a:pPr lvl="1">
              <a:defRPr sz="1600" b="1"/>
            </a:pPr>
            <a:r>
              <a:rPr lang="en-US" dirty="0"/>
              <a:t>Accuracy, Precision, Recall, F1</a:t>
            </a:r>
          </a:p>
          <a:p>
            <a:pPr lvl="1">
              <a:defRPr sz="1600" b="1"/>
            </a:pPr>
            <a:r>
              <a:rPr lang="en-US" dirty="0"/>
              <a:t>Common errors: 4 vs 9, 3 vs 5</a:t>
            </a:r>
          </a:p>
          <a:p>
            <a:pPr lvl="1">
              <a:defRPr sz="1600" b="1"/>
            </a:pPr>
            <a:endParaRPr dirty="0"/>
          </a:p>
        </p:txBody>
      </p:sp>
      <p:pic>
        <p:nvPicPr>
          <p:cNvPr id="6" name="Picture 5">
            <a:extLst>
              <a:ext uri="{FF2B5EF4-FFF2-40B4-BE49-F238E27FC236}">
                <a16:creationId xmlns:a16="http://schemas.microsoft.com/office/drawing/2014/main" id="{F10DE07D-28E4-427A-A1EB-E8DE2EA5CE9D}"/>
              </a:ext>
            </a:extLst>
          </p:cNvPr>
          <p:cNvPicPr>
            <a:picLocks noChangeAspect="1"/>
          </p:cNvPicPr>
          <p:nvPr/>
        </p:nvPicPr>
        <p:blipFill>
          <a:blip r:embed="rId2"/>
          <a:stretch>
            <a:fillRect/>
          </a:stretch>
        </p:blipFill>
        <p:spPr>
          <a:xfrm>
            <a:off x="3492092" y="1797837"/>
            <a:ext cx="5385208" cy="46247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3949"/>
            <a:ext cx="5307800" cy="523220"/>
          </a:xfrm>
          <a:prstGeom prst="rect">
            <a:avLst/>
          </a:prstGeom>
          <a:noFill/>
        </p:spPr>
        <p:txBody>
          <a:bodyPr wrap="none">
            <a:spAutoFit/>
          </a:bodyPr>
          <a:lstStyle/>
          <a:p>
            <a:pPr>
              <a:defRPr sz="2800" b="1">
                <a:solidFill>
                  <a:srgbClr val="1F4E79"/>
                </a:solidFill>
              </a:defRPr>
            </a:pPr>
            <a:r>
              <a:rPr dirty="0"/>
              <a:t>Task 5:  Fully Connected Network</a:t>
            </a:r>
          </a:p>
        </p:txBody>
      </p:sp>
      <p:sp>
        <p:nvSpPr>
          <p:cNvPr id="4" name="TextBox 3"/>
          <p:cNvSpPr txBox="1"/>
          <p:nvPr/>
        </p:nvSpPr>
        <p:spPr>
          <a:xfrm>
            <a:off x="794657" y="523221"/>
            <a:ext cx="4757057" cy="1231106"/>
          </a:xfrm>
          <a:prstGeom prst="rect">
            <a:avLst/>
          </a:prstGeom>
          <a:noFill/>
        </p:spPr>
        <p:txBody>
          <a:bodyPr wrap="square">
            <a:spAutoFit/>
          </a:bodyPr>
          <a:lstStyle/>
          <a:p>
            <a:pPr>
              <a:defRPr sz="1800" b="1">
                <a:solidFill>
                  <a:srgbClr val="4472C4"/>
                </a:solidFill>
              </a:defRPr>
            </a:pPr>
            <a:r>
              <a:rPr dirty="0"/>
              <a:t>FCN Model</a:t>
            </a:r>
          </a:p>
          <a:p>
            <a:pPr lvl="1">
              <a:defRPr sz="1400"/>
            </a:pPr>
            <a:r>
              <a:rPr lang="en-UG" dirty="0"/>
              <a:t>•</a:t>
            </a:r>
            <a:r>
              <a:rPr lang="en-US" dirty="0"/>
              <a:t> Test Accuracy: 98.10%</a:t>
            </a:r>
          </a:p>
          <a:p>
            <a:pPr lvl="1">
              <a:defRPr sz="1400"/>
            </a:pPr>
            <a:r>
              <a:rPr lang="en-US" dirty="0"/>
              <a:t>• Test Loss: 0.0716</a:t>
            </a:r>
          </a:p>
          <a:p>
            <a:pPr lvl="1">
              <a:defRPr sz="1400"/>
            </a:pPr>
            <a:r>
              <a:rPr lang="en-US" dirty="0"/>
              <a:t>• Flattens image</a:t>
            </a:r>
          </a:p>
          <a:p>
            <a:pPr lvl="1">
              <a:defRPr sz="1400"/>
            </a:pPr>
            <a:r>
              <a:rPr lang="en-US" dirty="0"/>
              <a:t>• No spatial awareness</a:t>
            </a:r>
          </a:p>
        </p:txBody>
      </p:sp>
      <p:pic>
        <p:nvPicPr>
          <p:cNvPr id="11" name="Picture 10">
            <a:extLst>
              <a:ext uri="{FF2B5EF4-FFF2-40B4-BE49-F238E27FC236}">
                <a16:creationId xmlns:a16="http://schemas.microsoft.com/office/drawing/2014/main" id="{680AB22A-24C3-4825-87FD-7FF76D73C4D9}"/>
              </a:ext>
            </a:extLst>
          </p:cNvPr>
          <p:cNvPicPr>
            <a:picLocks noChangeAspect="1"/>
          </p:cNvPicPr>
          <p:nvPr/>
        </p:nvPicPr>
        <p:blipFill>
          <a:blip r:embed="rId2"/>
          <a:stretch>
            <a:fillRect/>
          </a:stretch>
        </p:blipFill>
        <p:spPr>
          <a:xfrm>
            <a:off x="87086" y="1514070"/>
            <a:ext cx="8349343" cy="3284506"/>
          </a:xfrm>
          <a:prstGeom prst="rect">
            <a:avLst/>
          </a:prstGeom>
        </p:spPr>
      </p:pic>
      <p:sp>
        <p:nvSpPr>
          <p:cNvPr id="12" name="Rectangle 1">
            <a:extLst>
              <a:ext uri="{FF2B5EF4-FFF2-40B4-BE49-F238E27FC236}">
                <a16:creationId xmlns:a16="http://schemas.microsoft.com/office/drawing/2014/main" id="{40944024-A819-4C91-BDA9-4E6302F05F76}"/>
              </a:ext>
            </a:extLst>
          </p:cNvPr>
          <p:cNvSpPr>
            <a:spLocks noChangeArrowheads="1"/>
          </p:cNvSpPr>
          <p:nvPr/>
        </p:nvSpPr>
        <p:spPr bwMode="auto">
          <a:xfrm>
            <a:off x="271443" y="4798576"/>
            <a:ext cx="8601113"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1400" b="0" i="0" u="none" strike="noStrike" cap="none" normalizeH="0" baseline="0" dirty="0">
                <a:ln>
                  <a:noFill/>
                </a:ln>
                <a:solidFill>
                  <a:schemeClr val="tx1"/>
                </a:solidFill>
                <a:effectLst/>
                <a:latin typeface="Arial" panose="020B0604020202020204" pitchFamily="34" charset="0"/>
              </a:rPr>
              <a:t>The FCN shows </a:t>
            </a:r>
            <a:r>
              <a:rPr kumimoji="0" lang="en-UG" altLang="en-UG" sz="1400" b="1" i="0" u="none" strike="noStrike" cap="none" normalizeH="0" baseline="0" dirty="0">
                <a:ln>
                  <a:noFill/>
                </a:ln>
                <a:solidFill>
                  <a:schemeClr val="tx1"/>
                </a:solidFill>
                <a:effectLst/>
                <a:latin typeface="Arial" panose="020B0604020202020204" pitchFamily="34" charset="0"/>
              </a:rPr>
              <a:t>high accuracy and low loss</a:t>
            </a:r>
            <a:r>
              <a:rPr kumimoji="0" lang="en-UG" altLang="en-UG" sz="1400" b="0" i="0" u="none" strike="noStrike" cap="none" normalizeH="0" baseline="0" dirty="0">
                <a:ln>
                  <a:noFill/>
                </a:ln>
                <a:solidFill>
                  <a:schemeClr val="tx1"/>
                </a:solidFill>
                <a:effectLst/>
                <a:latin typeface="Arial" panose="020B0604020202020204" pitchFamily="34" charset="0"/>
              </a:rPr>
              <a:t>, proving it can classify MNIST digits well.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1400" b="0" i="0" u="none" strike="noStrike" cap="none" normalizeH="0" baseline="0" dirty="0">
                <a:ln>
                  <a:noFill/>
                </a:ln>
                <a:solidFill>
                  <a:schemeClr val="tx1"/>
                </a:solidFill>
                <a:effectLst/>
                <a:latin typeface="Arial" panose="020B0604020202020204" pitchFamily="34" charset="0"/>
              </a:rPr>
              <a:t>Compared to the CNN, the FCN has: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1400" b="0" i="0" u="none" strike="noStrike" cap="none" normalizeH="0" baseline="0" dirty="0">
                <a:ln>
                  <a:noFill/>
                </a:ln>
                <a:solidFill>
                  <a:schemeClr val="tx1"/>
                </a:solidFill>
                <a:effectLst/>
                <a:latin typeface="Arial" panose="020B0604020202020204" pitchFamily="34" charset="0"/>
              </a:rPr>
              <a:t>Slightly </a:t>
            </a:r>
            <a:r>
              <a:rPr kumimoji="0" lang="en-UG" altLang="en-UG" sz="1400" b="1" i="0" u="none" strike="noStrike" cap="none" normalizeH="0" baseline="0" dirty="0">
                <a:ln>
                  <a:noFill/>
                </a:ln>
                <a:solidFill>
                  <a:schemeClr val="tx1"/>
                </a:solidFill>
                <a:effectLst/>
                <a:latin typeface="Arial" panose="020B0604020202020204" pitchFamily="34" charset="0"/>
              </a:rPr>
              <a:t>higher validation loss</a:t>
            </a:r>
            <a:endParaRPr kumimoji="0" lang="en-UG" altLang="en-UG"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1400" b="0" i="0" u="none" strike="noStrike" cap="none" normalizeH="0" baseline="0" dirty="0">
                <a:ln>
                  <a:noFill/>
                </a:ln>
                <a:solidFill>
                  <a:schemeClr val="tx1"/>
                </a:solidFill>
                <a:effectLst/>
                <a:latin typeface="Arial" panose="020B0604020202020204" pitchFamily="34" charset="0"/>
              </a:rPr>
              <a:t>Slightly </a:t>
            </a:r>
            <a:r>
              <a:rPr kumimoji="0" lang="en-UG" altLang="en-UG" sz="1400" b="1" i="0" u="none" strike="noStrike" cap="none" normalizeH="0" baseline="0" dirty="0">
                <a:ln>
                  <a:noFill/>
                </a:ln>
                <a:solidFill>
                  <a:schemeClr val="tx1"/>
                </a:solidFill>
                <a:effectLst/>
                <a:latin typeface="Arial" panose="020B0604020202020204" pitchFamily="34" charset="0"/>
              </a:rPr>
              <a:t>lower accuracy</a:t>
            </a:r>
            <a:endParaRPr kumimoji="0" lang="en-UG" altLang="en-UG"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1400" b="0" i="0" u="none" strike="noStrike" cap="none" normalizeH="0" baseline="0" dirty="0">
                <a:ln>
                  <a:noFill/>
                </a:ln>
                <a:solidFill>
                  <a:schemeClr val="tx1"/>
                </a:solidFill>
                <a:effectLst/>
                <a:latin typeface="Arial" panose="020B0604020202020204" pitchFamily="34" charset="0"/>
              </a:rPr>
              <a:t>More </a:t>
            </a:r>
            <a:r>
              <a:rPr kumimoji="0" lang="en-UG" altLang="en-UG" sz="1400" b="1" i="0" u="none" strike="noStrike" cap="none" normalizeH="0" baseline="0" dirty="0">
                <a:ln>
                  <a:noFill/>
                </a:ln>
                <a:solidFill>
                  <a:schemeClr val="tx1"/>
                </a:solidFill>
                <a:effectLst/>
                <a:latin typeface="Arial" panose="020B0604020202020204" pitchFamily="34" charset="0"/>
              </a:rPr>
              <a:t>fluctuations</a:t>
            </a:r>
            <a:r>
              <a:rPr kumimoji="0" lang="en-UG" altLang="en-UG" sz="1400" b="0" i="0" u="none" strike="noStrike" cap="none" normalizeH="0" baseline="0" dirty="0">
                <a:ln>
                  <a:noFill/>
                </a:ln>
                <a:solidFill>
                  <a:schemeClr val="tx1"/>
                </a:solidFill>
                <a:effectLst/>
                <a:latin typeface="Arial" panose="020B0604020202020204" pitchFamily="34" charset="0"/>
              </a:rPr>
              <a:t>, because </a:t>
            </a:r>
            <a:r>
              <a:rPr kumimoji="0" lang="en-UG" altLang="en-UG" sz="1400" b="0" i="0" u="none" strike="noStrike" cap="none" normalizeH="0" baseline="0" dirty="0" err="1">
                <a:ln>
                  <a:noFill/>
                </a:ln>
                <a:solidFill>
                  <a:schemeClr val="tx1"/>
                </a:solidFill>
                <a:effectLst/>
                <a:latin typeface="Arial" panose="020B0604020202020204" pitchFamily="34" charset="0"/>
              </a:rPr>
              <a:t>FCNs</a:t>
            </a:r>
            <a:r>
              <a:rPr kumimoji="0" lang="en-UG" altLang="en-UG" sz="1400" b="0" i="0" u="none" strike="noStrike" cap="none" normalizeH="0" baseline="0" dirty="0">
                <a:ln>
                  <a:noFill/>
                </a:ln>
                <a:solidFill>
                  <a:schemeClr val="tx1"/>
                </a:solidFill>
                <a:effectLst/>
                <a:latin typeface="Arial" panose="020B0604020202020204" pitchFamily="34" charset="0"/>
              </a:rPr>
              <a:t> don’t extract spatial features as effectively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G" altLang="en-UG" sz="1400" b="0" i="0" u="none" strike="noStrike" cap="none" normalizeH="0" baseline="0" dirty="0">
                <a:ln>
                  <a:noFill/>
                </a:ln>
                <a:solidFill>
                  <a:schemeClr val="tx1"/>
                </a:solidFill>
                <a:effectLst/>
                <a:latin typeface="Arial" panose="020B0604020202020204" pitchFamily="34" charset="0"/>
              </a:rPr>
              <a:t>CNN remains the better architecture for image data — but the FCN still achieves </a:t>
            </a:r>
            <a:r>
              <a:rPr kumimoji="0" lang="en-UG" altLang="en-UG" sz="1400" b="1" i="0" u="none" strike="noStrike" cap="none" normalizeH="0" baseline="0" dirty="0">
                <a:ln>
                  <a:noFill/>
                </a:ln>
                <a:solidFill>
                  <a:schemeClr val="tx1"/>
                </a:solidFill>
                <a:effectLst/>
                <a:latin typeface="Arial" panose="020B0604020202020204" pitchFamily="34" charset="0"/>
              </a:rPr>
              <a:t>&gt;98% accuracy</a:t>
            </a:r>
            <a:r>
              <a:rPr kumimoji="0" lang="en-UG" altLang="en-UG" sz="1400" b="0" i="0" u="none" strike="noStrike" cap="none" normalizeH="0" baseline="0" dirty="0">
                <a:ln>
                  <a:noFill/>
                </a:ln>
                <a:solidFill>
                  <a:schemeClr val="tx1"/>
                </a:solidFill>
                <a:effectLst/>
                <a:latin typeface="Arial" panose="020B0604020202020204" pitchFamily="34" charset="0"/>
              </a:rPr>
              <a:t>, which is excellent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640080"/>
          </a:xfrm>
          <a:prstGeom prst="rect">
            <a:avLst/>
          </a:prstGeom>
          <a:noFill/>
        </p:spPr>
        <p:txBody>
          <a:bodyPr wrap="none">
            <a:spAutoFit/>
          </a:bodyPr>
          <a:lstStyle/>
          <a:p>
            <a:pPr>
              <a:defRPr sz="2800" b="1">
                <a:solidFill>
                  <a:srgbClr val="1F4E79"/>
                </a:solidFill>
              </a:defRPr>
            </a:pPr>
            <a:r>
              <a:t>Task 6: Dropout Regularization</a:t>
            </a:r>
          </a:p>
        </p:txBody>
      </p:sp>
      <p:sp>
        <p:nvSpPr>
          <p:cNvPr id="3" name="TextBox 2"/>
          <p:cNvSpPr txBox="1"/>
          <p:nvPr/>
        </p:nvSpPr>
        <p:spPr>
          <a:xfrm>
            <a:off x="914400" y="914400"/>
            <a:ext cx="6667500" cy="1015663"/>
          </a:xfrm>
          <a:prstGeom prst="rect">
            <a:avLst/>
          </a:prstGeom>
          <a:noFill/>
        </p:spPr>
        <p:txBody>
          <a:bodyPr wrap="square">
            <a:spAutoFit/>
          </a:bodyPr>
          <a:lstStyle/>
          <a:p>
            <a:pPr>
              <a:defRPr sz="1800" b="1"/>
            </a:pPr>
            <a:r>
              <a:rPr dirty="0"/>
              <a:t>Dropout Implementation:</a:t>
            </a:r>
          </a:p>
          <a:p>
            <a:pPr lvl="1">
              <a:defRPr sz="1400"/>
            </a:pPr>
            <a:r>
              <a:rPr dirty="0"/>
              <a:t>• Dropout(0.25) after first pooling layer</a:t>
            </a:r>
          </a:p>
          <a:p>
            <a:pPr lvl="1">
              <a:defRPr sz="1400"/>
            </a:pPr>
            <a:r>
              <a:rPr dirty="0"/>
              <a:t>• Dropout(0.25) after second pooling layer</a:t>
            </a:r>
          </a:p>
          <a:p>
            <a:pPr lvl="1">
              <a:defRPr sz="1400"/>
            </a:pPr>
            <a:r>
              <a:rPr dirty="0"/>
              <a:t>• Dropout(0.5) after dense layer</a:t>
            </a:r>
          </a:p>
        </p:txBody>
      </p:sp>
      <p:sp>
        <p:nvSpPr>
          <p:cNvPr id="4" name="TextBox 3"/>
          <p:cNvSpPr txBox="1"/>
          <p:nvPr/>
        </p:nvSpPr>
        <p:spPr>
          <a:xfrm>
            <a:off x="323849" y="5082599"/>
            <a:ext cx="7315200" cy="1371600"/>
          </a:xfrm>
          <a:prstGeom prst="rect">
            <a:avLst/>
          </a:prstGeom>
          <a:noFill/>
        </p:spPr>
        <p:txBody>
          <a:bodyPr wrap="none">
            <a:spAutoFit/>
          </a:bodyPr>
          <a:lstStyle/>
          <a:p>
            <a:pPr>
              <a:defRPr sz="1800" b="1"/>
            </a:pPr>
            <a:r>
              <a:rPr dirty="0"/>
              <a:t>Results:</a:t>
            </a:r>
          </a:p>
          <a:p>
            <a:pPr lvl="1">
              <a:defRPr sz="1400"/>
            </a:pPr>
            <a:r>
              <a:rPr dirty="0"/>
              <a:t>• Test Accuracy: 99.23% (improved from 99.16%)</a:t>
            </a:r>
          </a:p>
          <a:p>
            <a:pPr lvl="1">
              <a:defRPr sz="1400"/>
            </a:pPr>
            <a:r>
              <a:rPr dirty="0"/>
              <a:t>• Test Loss: 0.0229 (reduced from 0.0271)</a:t>
            </a:r>
          </a:p>
          <a:p>
            <a:pPr>
              <a:spcBef>
                <a:spcPts val="800"/>
              </a:spcBef>
              <a:defRPr sz="1200" i="1"/>
            </a:pPr>
            <a:r>
              <a:rPr dirty="0"/>
              <a:t>• Dropout reduces overfitting by randomly disabling neurons</a:t>
            </a:r>
          </a:p>
        </p:txBody>
      </p:sp>
      <p:pic>
        <p:nvPicPr>
          <p:cNvPr id="5" name="Picture 4" descr="dropout_comparison.png"/>
          <p:cNvPicPr>
            <a:picLocks noChangeAspect="1"/>
          </p:cNvPicPr>
          <p:nvPr/>
        </p:nvPicPr>
        <p:blipFill>
          <a:blip r:embed="rId2"/>
          <a:stretch>
            <a:fillRect/>
          </a:stretch>
        </p:blipFill>
        <p:spPr>
          <a:xfrm>
            <a:off x="323849" y="2018992"/>
            <a:ext cx="8460760" cy="297467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640080"/>
          </a:xfrm>
          <a:prstGeom prst="rect">
            <a:avLst/>
          </a:prstGeom>
          <a:noFill/>
        </p:spPr>
        <p:txBody>
          <a:bodyPr wrap="none">
            <a:spAutoFit/>
          </a:bodyPr>
          <a:lstStyle/>
          <a:p>
            <a:pPr>
              <a:defRPr sz="2800" b="1">
                <a:solidFill>
                  <a:srgbClr val="1F4E79"/>
                </a:solidFill>
              </a:defRPr>
            </a:pPr>
            <a:r>
              <a:t>Task 7: Batch Normalization &amp; Optimizers</a:t>
            </a:r>
          </a:p>
        </p:txBody>
      </p:sp>
      <p:sp>
        <p:nvSpPr>
          <p:cNvPr id="3" name="TextBox 2"/>
          <p:cNvSpPr txBox="1"/>
          <p:nvPr/>
        </p:nvSpPr>
        <p:spPr>
          <a:xfrm>
            <a:off x="914400" y="1097280"/>
            <a:ext cx="7315200" cy="1828800"/>
          </a:xfrm>
          <a:prstGeom prst="rect">
            <a:avLst/>
          </a:prstGeom>
          <a:noFill/>
        </p:spPr>
        <p:txBody>
          <a:bodyPr wrap="square">
            <a:spAutoFit/>
          </a:bodyPr>
          <a:lstStyle/>
          <a:p>
            <a:pPr>
              <a:defRPr sz="1600" b="1"/>
            </a:pPr>
            <a:r>
              <a:t>Batch Normalization:</a:t>
            </a:r>
          </a:p>
          <a:p>
            <a:pPr lvl="1">
              <a:defRPr sz="1200"/>
            </a:pPr>
            <a:r>
              <a:t>• Added after each Conv2D layer</a:t>
            </a:r>
          </a:p>
          <a:p>
            <a:pPr lvl="1">
              <a:defRPr sz="1200"/>
            </a:pPr>
            <a:r>
              <a:t>• Normalizes activations → Stabilizes training</a:t>
            </a:r>
          </a:p>
        </p:txBody>
      </p:sp>
      <p:sp>
        <p:nvSpPr>
          <p:cNvPr id="4" name="TextBox 3"/>
          <p:cNvSpPr txBox="1"/>
          <p:nvPr/>
        </p:nvSpPr>
        <p:spPr>
          <a:xfrm>
            <a:off x="787400" y="5156200"/>
            <a:ext cx="4013200" cy="1549142"/>
          </a:xfrm>
          <a:prstGeom prst="rect">
            <a:avLst/>
          </a:prstGeom>
          <a:noFill/>
        </p:spPr>
        <p:txBody>
          <a:bodyPr wrap="square">
            <a:spAutoFit/>
          </a:bodyPr>
          <a:lstStyle/>
          <a:p>
            <a:pPr>
              <a:defRPr sz="1600" b="1"/>
            </a:pPr>
            <a:r>
              <a:rPr dirty="0"/>
              <a:t>Optimizer Comparison:</a:t>
            </a:r>
          </a:p>
          <a:p>
            <a:pPr lvl="1">
              <a:defRPr sz="1300" b="1"/>
            </a:pPr>
            <a:r>
              <a:rPr dirty="0"/>
              <a:t>SGD (</a:t>
            </a:r>
            <a:r>
              <a:rPr dirty="0" err="1"/>
              <a:t>lr</a:t>
            </a:r>
            <a:r>
              <a:rPr dirty="0"/>
              <a:t>=0.01, momentum=0.9):</a:t>
            </a:r>
          </a:p>
          <a:p>
            <a:pPr lvl="2">
              <a:spcAft>
                <a:spcPts val="400"/>
              </a:spcAft>
              <a:defRPr sz="1100"/>
            </a:pPr>
            <a:r>
              <a:rPr dirty="0"/>
              <a:t>  Accuracy: 99.11% | Loss: 0.0288</a:t>
            </a:r>
          </a:p>
          <a:p>
            <a:pPr lvl="1">
              <a:defRPr sz="1300" b="1"/>
            </a:pPr>
            <a:r>
              <a:rPr dirty="0"/>
              <a:t>Adam (default):</a:t>
            </a:r>
          </a:p>
          <a:p>
            <a:pPr lvl="2">
              <a:spcAft>
                <a:spcPts val="400"/>
              </a:spcAft>
              <a:defRPr sz="1100"/>
            </a:pPr>
            <a:r>
              <a:rPr dirty="0"/>
              <a:t>  Accuracy: 99.04% | Loss: 0.0325</a:t>
            </a:r>
          </a:p>
          <a:p>
            <a:pPr lvl="1">
              <a:defRPr sz="1300" b="1"/>
            </a:pPr>
            <a:r>
              <a:rPr dirty="0" err="1"/>
              <a:t>RMSProp</a:t>
            </a:r>
            <a:r>
              <a:rPr dirty="0"/>
              <a:t> (</a:t>
            </a:r>
            <a:r>
              <a:rPr dirty="0" err="1"/>
              <a:t>lr</a:t>
            </a:r>
            <a:r>
              <a:rPr dirty="0"/>
              <a:t>=0.001):</a:t>
            </a:r>
          </a:p>
          <a:p>
            <a:pPr lvl="2">
              <a:spcAft>
                <a:spcPts val="400"/>
              </a:spcAft>
              <a:defRPr sz="1100"/>
            </a:pPr>
            <a:r>
              <a:rPr dirty="0"/>
              <a:t>  Accuracy: 98.89% | Loss: 0.0404</a:t>
            </a:r>
          </a:p>
        </p:txBody>
      </p:sp>
      <p:pic>
        <p:nvPicPr>
          <p:cNvPr id="5" name="Picture 4" descr="optimizer_comparison.png"/>
          <p:cNvPicPr>
            <a:picLocks noChangeAspect="1"/>
          </p:cNvPicPr>
          <p:nvPr/>
        </p:nvPicPr>
        <p:blipFill>
          <a:blip r:embed="rId2"/>
          <a:stretch>
            <a:fillRect/>
          </a:stretch>
        </p:blipFill>
        <p:spPr>
          <a:xfrm>
            <a:off x="165100" y="1899971"/>
            <a:ext cx="8229600" cy="325130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640080"/>
          </a:xfrm>
          <a:prstGeom prst="rect">
            <a:avLst/>
          </a:prstGeom>
          <a:noFill/>
        </p:spPr>
        <p:txBody>
          <a:bodyPr wrap="none">
            <a:spAutoFit/>
          </a:bodyPr>
          <a:lstStyle/>
          <a:p>
            <a:pPr>
              <a:defRPr sz="2800" b="1">
                <a:solidFill>
                  <a:srgbClr val="1F4E79"/>
                </a:solidFill>
              </a:defRPr>
            </a:pPr>
            <a:r>
              <a:t>Task 8: Visualize Feature Maps</a:t>
            </a:r>
          </a:p>
        </p:txBody>
      </p:sp>
      <p:sp>
        <p:nvSpPr>
          <p:cNvPr id="3" name="TextBox 2"/>
          <p:cNvSpPr txBox="1"/>
          <p:nvPr/>
        </p:nvSpPr>
        <p:spPr>
          <a:xfrm>
            <a:off x="914400" y="1097280"/>
            <a:ext cx="7315200" cy="1828800"/>
          </a:xfrm>
          <a:prstGeom prst="rect">
            <a:avLst/>
          </a:prstGeom>
          <a:noFill/>
        </p:spPr>
        <p:txBody>
          <a:bodyPr wrap="square">
            <a:spAutoFit/>
          </a:bodyPr>
          <a:lstStyle/>
          <a:p>
            <a:pPr>
              <a:defRPr sz="1600" b="1"/>
            </a:pPr>
            <a:r>
              <a:t>Feature Map Extraction:</a:t>
            </a:r>
          </a:p>
          <a:p>
            <a:pPr lvl="1">
              <a:defRPr sz="1200"/>
            </a:pPr>
            <a:r>
              <a:t>• Created intermediate model to extract first Conv2D layer outputs</a:t>
            </a:r>
          </a:p>
          <a:p>
            <a:pPr lvl="1">
              <a:defRPr sz="1200"/>
            </a:pPr>
            <a:r>
              <a:t>• Visualized 32 feature maps from first convolutional layer</a:t>
            </a:r>
          </a:p>
          <a:p>
            <a:pPr lvl="1">
              <a:defRPr sz="1200"/>
            </a:pPr>
            <a:r>
              <a:t>• Each filter detects different patterns in the input image</a:t>
            </a:r>
          </a:p>
        </p:txBody>
      </p:sp>
      <p:pic>
        <p:nvPicPr>
          <p:cNvPr id="4" name="Picture 3" descr="feature_maps.png"/>
          <p:cNvPicPr>
            <a:picLocks noChangeAspect="1"/>
          </p:cNvPicPr>
          <p:nvPr/>
        </p:nvPicPr>
        <p:blipFill>
          <a:blip r:embed="rId2"/>
          <a:stretch>
            <a:fillRect/>
          </a:stretch>
        </p:blipFill>
        <p:spPr>
          <a:xfrm>
            <a:off x="659155" y="2011679"/>
            <a:ext cx="7202145" cy="460986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640080"/>
          </a:xfrm>
          <a:prstGeom prst="rect">
            <a:avLst/>
          </a:prstGeom>
          <a:noFill/>
        </p:spPr>
        <p:txBody>
          <a:bodyPr wrap="none">
            <a:spAutoFit/>
          </a:bodyPr>
          <a:lstStyle/>
          <a:p>
            <a:pPr>
              <a:defRPr sz="2800" b="1">
                <a:solidFill>
                  <a:srgbClr val="1F4E79"/>
                </a:solidFill>
              </a:defRPr>
            </a:pPr>
            <a:r>
              <a:t>Task 9: How CNN Filters Learn Patterns</a:t>
            </a:r>
          </a:p>
        </p:txBody>
      </p:sp>
      <p:sp>
        <p:nvSpPr>
          <p:cNvPr id="3" name="TextBox 2"/>
          <p:cNvSpPr txBox="1"/>
          <p:nvPr/>
        </p:nvSpPr>
        <p:spPr>
          <a:xfrm>
            <a:off x="914400" y="1097280"/>
            <a:ext cx="7581900" cy="4852610"/>
          </a:xfrm>
          <a:prstGeom prst="rect">
            <a:avLst/>
          </a:prstGeom>
          <a:noFill/>
        </p:spPr>
        <p:txBody>
          <a:bodyPr wrap="square">
            <a:spAutoFit/>
          </a:bodyPr>
          <a:lstStyle/>
          <a:p>
            <a:pPr>
              <a:defRPr sz="1800" b="1"/>
            </a:pPr>
            <a:r>
              <a:rPr sz="3600" dirty="0"/>
              <a:t>What CNN Filters Learn:</a:t>
            </a:r>
          </a:p>
          <a:p>
            <a:pPr>
              <a:spcBef>
                <a:spcPts val="800"/>
              </a:spcBef>
              <a:defRPr sz="1400" b="1">
                <a:solidFill>
                  <a:srgbClr val="4472C4"/>
                </a:solidFill>
              </a:defRPr>
            </a:pPr>
            <a:r>
              <a:rPr sz="2000" dirty="0"/>
              <a:t>Edge Detection</a:t>
            </a:r>
          </a:p>
          <a:p>
            <a:pPr lvl="1">
              <a:spcAft>
                <a:spcPts val="600"/>
              </a:spcAft>
              <a:defRPr sz="1200"/>
            </a:pPr>
            <a:r>
              <a:rPr sz="2000" dirty="0"/>
              <a:t>Filters detect edges in various orientations (horizontal, vertical, diagonal)</a:t>
            </a:r>
          </a:p>
          <a:p>
            <a:pPr>
              <a:spcBef>
                <a:spcPts val="800"/>
              </a:spcBef>
              <a:defRPr sz="1400" b="1">
                <a:solidFill>
                  <a:srgbClr val="4472C4"/>
                </a:solidFill>
              </a:defRPr>
            </a:pPr>
            <a:r>
              <a:rPr sz="2000" dirty="0"/>
              <a:t>Texture Recognition</a:t>
            </a:r>
          </a:p>
          <a:p>
            <a:pPr lvl="1">
              <a:spcAft>
                <a:spcPts val="600"/>
              </a:spcAft>
              <a:defRPr sz="1200"/>
            </a:pPr>
            <a:r>
              <a:rPr sz="2000" dirty="0"/>
              <a:t>Some filters identify simple textures and gradients within digits</a:t>
            </a:r>
          </a:p>
          <a:p>
            <a:pPr>
              <a:spcBef>
                <a:spcPts val="800"/>
              </a:spcBef>
              <a:defRPr sz="1400" b="1">
                <a:solidFill>
                  <a:srgbClr val="4472C4"/>
                </a:solidFill>
              </a:defRPr>
            </a:pPr>
            <a:r>
              <a:rPr sz="2000" dirty="0"/>
              <a:t>Corner &amp; Blob Detection</a:t>
            </a:r>
          </a:p>
          <a:p>
            <a:pPr lvl="1">
              <a:spcAft>
                <a:spcPts val="600"/>
              </a:spcAft>
              <a:defRPr sz="1200"/>
            </a:pPr>
            <a:r>
              <a:rPr sz="2000" dirty="0"/>
              <a:t>Filters sensitive to specific corners or pixel blobs</a:t>
            </a:r>
          </a:p>
          <a:p>
            <a:pPr>
              <a:spcBef>
                <a:spcPts val="800"/>
              </a:spcBef>
              <a:defRPr sz="1400" b="1">
                <a:solidFill>
                  <a:srgbClr val="4472C4"/>
                </a:solidFill>
              </a:defRPr>
            </a:pPr>
            <a:r>
              <a:rPr sz="2000" dirty="0"/>
              <a:t>Feature Diversity</a:t>
            </a:r>
          </a:p>
          <a:p>
            <a:pPr lvl="1">
              <a:spcAft>
                <a:spcPts val="600"/>
              </a:spcAft>
              <a:defRPr sz="1200"/>
            </a:pPr>
            <a:r>
              <a:rPr sz="2000" dirty="0"/>
              <a:t>Each filter specializes in detecting different visual patterns</a:t>
            </a:r>
          </a:p>
          <a:p>
            <a:pPr>
              <a:spcBef>
                <a:spcPts val="800"/>
              </a:spcBef>
              <a:defRPr sz="1400" b="1">
                <a:solidFill>
                  <a:srgbClr val="4472C4"/>
                </a:solidFill>
              </a:defRPr>
            </a:pPr>
            <a:r>
              <a:rPr sz="2000" dirty="0"/>
              <a:t>Hierarchical Learning</a:t>
            </a:r>
          </a:p>
          <a:p>
            <a:pPr lvl="1">
              <a:spcAft>
                <a:spcPts val="600"/>
              </a:spcAft>
              <a:defRPr sz="1200"/>
            </a:pPr>
            <a:r>
              <a:rPr sz="2000" dirty="0"/>
              <a:t>Early layers: basic features → Deeper layers: complex patterns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640080"/>
          </a:xfrm>
          <a:prstGeom prst="rect">
            <a:avLst/>
          </a:prstGeom>
          <a:noFill/>
        </p:spPr>
        <p:txBody>
          <a:bodyPr wrap="none">
            <a:spAutoFit/>
          </a:bodyPr>
          <a:lstStyle/>
          <a:p>
            <a:pPr>
              <a:defRPr sz="3200" b="1">
                <a:solidFill>
                  <a:srgbClr val="1F4E79"/>
                </a:solidFill>
              </a:defRPr>
            </a:pPr>
            <a:r>
              <a:t>Key Findings &amp; Results</a:t>
            </a:r>
          </a:p>
        </p:txBody>
      </p:sp>
      <p:sp>
        <p:nvSpPr>
          <p:cNvPr id="3" name="TextBox 2"/>
          <p:cNvSpPr txBox="1"/>
          <p:nvPr/>
        </p:nvSpPr>
        <p:spPr>
          <a:xfrm>
            <a:off x="914400" y="1097280"/>
            <a:ext cx="7518400" cy="3595856"/>
          </a:xfrm>
          <a:prstGeom prst="rect">
            <a:avLst/>
          </a:prstGeom>
          <a:noFill/>
        </p:spPr>
        <p:txBody>
          <a:bodyPr wrap="square">
            <a:spAutoFit/>
          </a:bodyPr>
          <a:lstStyle/>
          <a:p>
            <a:endParaRPr dirty="0"/>
          </a:p>
          <a:p>
            <a:pPr>
              <a:spcAft>
                <a:spcPts val="1000"/>
              </a:spcAft>
              <a:defRPr sz="1600"/>
            </a:pPr>
            <a:r>
              <a:rPr sz="2400" dirty="0"/>
              <a:t>• CNN outperforms FCN: 99.16% vs 98.10% accuracy</a:t>
            </a:r>
          </a:p>
          <a:p>
            <a:pPr>
              <a:spcAft>
                <a:spcPts val="1000"/>
              </a:spcAft>
              <a:defRPr sz="1600"/>
            </a:pPr>
            <a:r>
              <a:rPr sz="2400" dirty="0"/>
              <a:t>• Dropout improves generalization: 99.23% accuracy</a:t>
            </a:r>
          </a:p>
          <a:p>
            <a:pPr>
              <a:spcAft>
                <a:spcPts val="1000"/>
              </a:spcAft>
              <a:defRPr sz="1600"/>
            </a:pPr>
            <a:r>
              <a:rPr sz="2400" dirty="0"/>
              <a:t>• SGD optimizer performs best: 99.11% accuracy</a:t>
            </a:r>
          </a:p>
          <a:p>
            <a:pPr>
              <a:spcAft>
                <a:spcPts val="1000"/>
              </a:spcAft>
              <a:defRPr sz="1600"/>
            </a:pPr>
            <a:r>
              <a:rPr sz="2400" dirty="0"/>
              <a:t>• Batch normalization stabilizes training</a:t>
            </a:r>
          </a:p>
          <a:p>
            <a:pPr>
              <a:spcAft>
                <a:spcPts val="1000"/>
              </a:spcAft>
              <a:defRPr sz="1600"/>
            </a:pPr>
            <a:r>
              <a:rPr sz="2400" dirty="0"/>
              <a:t>• First layer filters learn edge detection and basic patterns</a:t>
            </a:r>
          </a:p>
          <a:p>
            <a:pPr>
              <a:spcAft>
                <a:spcPts val="1000"/>
              </a:spcAft>
              <a:defRPr sz="1600"/>
            </a:pPr>
            <a:r>
              <a:rPr sz="2400" dirty="0"/>
              <a:t>• Spatial feature extraction is crucial for image classification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74320"/>
            <a:ext cx="7315200" cy="640080"/>
          </a:xfrm>
          <a:prstGeom prst="rect">
            <a:avLst/>
          </a:prstGeom>
          <a:noFill/>
        </p:spPr>
        <p:txBody>
          <a:bodyPr wrap="none">
            <a:spAutoFit/>
          </a:bodyPr>
          <a:lstStyle/>
          <a:p>
            <a:pPr>
              <a:defRPr sz="3200" b="1">
                <a:solidFill>
                  <a:srgbClr val="1F4E79"/>
                </a:solidFill>
              </a:defRPr>
            </a:pPr>
            <a:r>
              <a:t>Conclusion</a:t>
            </a:r>
          </a:p>
        </p:txBody>
      </p:sp>
      <p:sp>
        <p:nvSpPr>
          <p:cNvPr id="3" name="TextBox 2"/>
          <p:cNvSpPr txBox="1"/>
          <p:nvPr/>
        </p:nvSpPr>
        <p:spPr>
          <a:xfrm>
            <a:off x="914400" y="1371600"/>
            <a:ext cx="7315200" cy="4421723"/>
          </a:xfrm>
          <a:prstGeom prst="rect">
            <a:avLst/>
          </a:prstGeom>
          <a:noFill/>
        </p:spPr>
        <p:txBody>
          <a:bodyPr wrap="square">
            <a:spAutoFit/>
          </a:bodyPr>
          <a:lstStyle/>
          <a:p>
            <a:pPr>
              <a:defRPr sz="1800" b="1"/>
            </a:pPr>
            <a:r>
              <a:rPr dirty="0"/>
              <a:t>Summary:</a:t>
            </a:r>
          </a:p>
          <a:p>
            <a:pPr>
              <a:spcBef>
                <a:spcPts val="1200"/>
              </a:spcBef>
              <a:spcAft>
                <a:spcPts val="1600"/>
              </a:spcAft>
              <a:defRPr sz="1400"/>
            </a:pPr>
            <a:r>
              <a:rPr sz="2400" dirty="0"/>
              <a:t>CNNs are highly effective for image classification tasks like MNIST. Through convolutional layers, they learn spatial hierarchies of features, from simple edges to complex digit patterns. Regularization techniques like dropout and batch normalization further improve model performance and generalization.</a:t>
            </a:r>
          </a:p>
          <a:p>
            <a:pPr>
              <a:defRPr sz="1400"/>
            </a:pPr>
            <a:r>
              <a:rPr sz="2400" dirty="0"/>
              <a:t>The visualization of feature maps demonstrates how CNNs break down images into fundamental building blocks, which are then combined by deeper layers to achieve accurate digit recognition</a:t>
            </a:r>
            <a:r>
              <a:rPr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286000"/>
            <a:ext cx="7315200" cy="1371600"/>
          </a:xfrm>
          <a:prstGeom prst="rect">
            <a:avLst/>
          </a:prstGeom>
          <a:noFill/>
        </p:spPr>
        <p:txBody>
          <a:bodyPr wrap="none">
            <a:spAutoFit/>
          </a:bodyPr>
          <a:lstStyle/>
          <a:p>
            <a:pPr algn="ctr">
              <a:defRPr sz="4800" b="1">
                <a:solidFill>
                  <a:srgbClr val="1F4E79"/>
                </a:solidFill>
              </a:defRPr>
            </a:pPr>
            <a:r>
              <a:t>Thank You</a:t>
            </a:r>
          </a:p>
        </p:txBody>
      </p:sp>
      <p:sp>
        <p:nvSpPr>
          <p:cNvPr id="3" name="TextBox 2"/>
          <p:cNvSpPr txBox="1"/>
          <p:nvPr/>
        </p:nvSpPr>
        <p:spPr>
          <a:xfrm>
            <a:off x="914400" y="4114800"/>
            <a:ext cx="7315200" cy="914400"/>
          </a:xfrm>
          <a:prstGeom prst="rect">
            <a:avLst/>
          </a:prstGeom>
          <a:noFill/>
        </p:spPr>
        <p:txBody>
          <a:bodyPr wrap="none">
            <a:spAutoFit/>
          </a:bodyPr>
          <a:lstStyle/>
          <a:p>
            <a:pPr algn="ctr">
              <a:defRPr sz="2800">
                <a:solidFill>
                  <a:srgbClr val="4472C4"/>
                </a:solidFill>
              </a:defRPr>
            </a:pPr>
            <a:r>
              <a:rPr dirty="0"/>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142</TotalTime>
  <Words>844</Words>
  <Application>Microsoft Office PowerPoint</Application>
  <PresentationFormat>On-screen Show (4:3)</PresentationFormat>
  <Paragraphs>121</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Thomas</dc:creator>
  <cp:keywords/>
  <dc:description>generated using python-pptx</dc:description>
  <cp:lastModifiedBy>arineitwe thomas</cp:lastModifiedBy>
  <cp:revision>12</cp:revision>
  <dcterms:created xsi:type="dcterms:W3CDTF">2013-01-27T09:14:16Z</dcterms:created>
  <dcterms:modified xsi:type="dcterms:W3CDTF">2025-11-22T07:23:04Z</dcterms:modified>
  <cp:category/>
</cp:coreProperties>
</file>